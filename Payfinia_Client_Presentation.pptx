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volume (billions)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ACH</c:v>
                  </c:pt>
                  <c:pt idx="1">
                    <c:v>Check</c:v>
                  </c:pt>
                  <c:pt idx="2">
                    <c:v>Same-Day ACH</c:v>
                  </c:pt>
                  <c:pt idx="3">
                    <c:v>RTP</c:v>
                  </c:pt>
                  <c:pt idx="4">
                    <c:v>Wire</c:v>
                  </c:pt>
                  <c:pt idx="5">
                    <c:v>FedNow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35.2</c:v>
                </c:pt>
                <c:pt idx="1">
                  <c:v>3</c:v>
                </c:pt>
                <c:pt idx="2">
                  <c:v>1.4</c:v>
                </c:pt>
                <c:pt idx="3">
                  <c:v>0.475</c:v>
                </c:pt>
                <c:pt idx="4">
                  <c:v>0.21</c:v>
                </c:pt>
                <c:pt idx="5">
                  <c:v>0.011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Fully-loaded cost per transaction ($)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Wire</c:v>
                  </c:pt>
                  <c:pt idx="1">
                    <c:v>Check</c:v>
                  </c:pt>
                  <c:pt idx="2">
                    <c:v>Same-Day ACH</c:v>
                  </c:pt>
                  <c:pt idx="3">
                    <c:v>Instant</c:v>
                  </c:pt>
                  <c:pt idx="4">
                    <c:v>ACH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18.57</c:v>
                </c:pt>
                <c:pt idx="1">
                  <c:v>2.98</c:v>
                </c:pt>
                <c:pt idx="2">
                  <c:v>1.34</c:v>
                </c:pt>
                <c:pt idx="3">
                  <c:v>0.77</c:v>
                </c:pt>
                <c:pt idx="4">
                  <c:v>0.4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organizations reporting fraud (2025)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Checks</c:v>
                  </c:pt>
                  <c:pt idx="1">
                    <c:v>ACH debit</c:v>
                  </c:pt>
                  <c:pt idx="2">
                    <c:v>Wire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instant-payment volume (billions)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Brazil Pix 2021</c:v>
                  </c:pt>
                  <c:pt idx="1">
                    <c:v>Brazil Pix 2024</c:v>
                  </c:pt>
                  <c:pt idx="2">
                    <c:v>UK Faster Pay. 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</c:v>
                </c:pt>
                <c:pt idx="1">
                  <c:v>63.4</c:v>
                </c:pt>
                <c:pt idx="2">
                  <c:v>5.09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3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transaction ($)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Wire</c:v>
                  </c:pt>
                  <c:pt idx="1">
                    <c:v>Check</c:v>
                  </c:pt>
                  <c:pt idx="2">
                    <c:v>Same-Day ACH</c:v>
                  </c:pt>
                  <c:pt idx="3">
                    <c:v>Instant</c:v>
                  </c:pt>
                  <c:pt idx="4">
                    <c:v>ACH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18.57</c:v>
                </c:pt>
                <c:pt idx="1">
                  <c:v>2.98</c:v>
                </c:pt>
                <c:pt idx="2">
                  <c:v>1.34</c:v>
                </c:pt>
                <c:pt idx="3">
                  <c:v>0.77</c:v>
                </c:pt>
                <c:pt idx="4">
                  <c:v>0.4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496"/>
              </a:solidFill>
              <a:effectLst/>
            </c:spPr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bubble3D val="0"/>
            <c:spPr>
              <a:solidFill>
                <a:srgbClr val="F4A259"/>
              </a:solidFill>
              <a:effectLst/>
            </c:spPr>
          </c:dPt>
          <c:dPt>
            <c:idx val="3"/>
            <c:bubble3D val="0"/>
            <c:spPr>
              <a:solidFill>
                <a:srgbClr val="2EC4B6"/>
              </a:solidFill>
              <a:effectLst/>
            </c:spPr>
          </c:dPt>
          <c:dPt>
            <c:idx val="4"/>
            <c:bubble3D val="0"/>
            <c:spPr>
              <a:solidFill>
                <a:srgbClr val="5B8DEF"/>
              </a:solidFill>
              <a:effectLst/>
            </c:spPr>
          </c:dPt>
          <c:dPt>
            <c:idx val="5"/>
            <c:bubble3D val="0"/>
            <c:spPr>
              <a:solidFill>
                <a:srgbClr val="B583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Processing</c:v>
                </c:pt>
                <c:pt idx="1">
                  <c:v>Fraud loss</c:v>
                </c:pt>
                <c:pt idx="2">
                  <c:v>Reconciliation</c:v>
                </c:pt>
                <c:pt idx="3">
                  <c:v>Failure</c:v>
                </c:pt>
                <c:pt idx="4">
                  <c:v>Fraud prev.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</c:v>
                </c:pt>
                <c:pt idx="1">
                  <c:v>0.4</c:v>
                </c:pt>
                <c:pt idx="2">
                  <c:v>0.3</c:v>
                </c:pt>
                <c:pt idx="3">
                  <c:v>0.12</c:v>
                </c:pt>
                <c:pt idx="4">
                  <c:v>0.1</c:v>
                </c:pt>
                <c:pt idx="5">
                  <c:v>0.06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496"/>
              </a:solidFill>
              <a:effectLst/>
            </c:spPr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bubble3D val="0"/>
            <c:spPr>
              <a:solidFill>
                <a:srgbClr val="2C7A7B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1F3864"/>
              </a:solidFill>
              <a:effectLst/>
            </c:spPr>
          </c:dPt>
          <c:dPt>
            <c:idx val="5"/>
            <c:bubble3D val="0"/>
            <c:spPr>
              <a:solidFill>
                <a:srgbClr val="F4A25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Processing</c:v>
                </c:pt>
                <c:pt idx="1">
                  <c:v>Fraud loss</c:v>
                </c:pt>
                <c:pt idx="2">
                  <c:v>Compliance</c:v>
                </c:pt>
                <c:pt idx="3">
                  <c:v>Fraud prev.</c:v>
                </c:pt>
                <c:pt idx="4">
                  <c:v>Network</c:v>
                </c:pt>
                <c:pt idx="5">
                  <c:v>Recon.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0.82</c:v>
                </c:pt>
                <c:pt idx="5">
                  <c:v>0.75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annual benefit ($)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CFI</c:v>
                  </c:pt>
                  <c:pt idx="1">
                    <c:v>Mid CFI</c:v>
                  </c:pt>
                  <c:pt idx="2">
                    <c:v>Large CFI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42900</c:v>
                </c:pt>
                <c:pt idx="1">
                  <c:v>305805</c:v>
                </c:pt>
                <c:pt idx="2">
                  <c:v>1656600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 by substitution multiplier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x0.5</c:v>
                  </c:pt>
                  <c:pt idx="1">
                    <c:v>x0.75</c:v>
                  </c:pt>
                  <c:pt idx="2">
                    <c:v>x1.0</c:v>
                  </c:pt>
                  <c:pt idx="3">
                    <c:v>x1.25</c:v>
                  </c:pt>
                  <c:pt idx="4">
                    <c:v>x1.5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122902</c:v>
                </c:pt>
                <c:pt idx="1">
                  <c:v>214354</c:v>
                </c:pt>
                <c:pt idx="2">
                  <c:v>305805</c:v>
                </c:pt>
                <c:pt idx="3">
                  <c:v>397256</c:v>
                </c:pt>
                <c:pt idx="4">
                  <c:v>488707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 by instant cost/txn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$0.50</c:v>
                  </c:pt>
                  <c:pt idx="1">
                    <c:v>$0.77</c:v>
                  </c:pt>
                  <c:pt idx="2">
                    <c:v>$1.00</c:v>
                  </c:pt>
                  <c:pt idx="3">
                    <c:v>$1.50</c:v>
                  </c:pt>
                  <c:pt idx="4">
                    <c:v>$2.00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389127</c:v>
                </c:pt>
                <c:pt idx="1">
                  <c:v>305805</c:v>
                </c:pt>
                <c:pt idx="2">
                  <c:v>234827</c:v>
                </c:pt>
                <c:pt idx="3">
                  <c:v>80527</c:v>
                </c:pt>
                <c:pt idx="4">
                  <c:v>-73773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291840" cy="329184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 ·  MONEY MOVEMENT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ROI of Instant Payments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community financial institution gains by migrating from checks and wires to FedNow &amp; RTP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1 &amp; 2  ·  Public Data Synthesis + Migration ROI Model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 FinTech Graduate Project Team  ·  Prepared for Payfinia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SET OUT TO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every CFI asks about instant payments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I move transaction volume from legacy rails — checks, wires, Same-Day ACH — onto instant rails (FedNow, RTP), what is the financial return?”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that question is answered anecdotally. Our job: replace the guess with a transparent, defensible, data-driven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rails (today)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wires, Same-Day ACH — high cost, slow, fraud-prone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rails (the shift)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 &amp; RTP — near-instant, low fee, 24/7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931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= the opportunity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of legacy cost displaced is margin for the CFI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— four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62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 Synthesis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sourced reference base of rail volumes, costs, fraud &amp; global adoption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0" y="1600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9992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2862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ROI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full-cost model (Python + Excel) quantifying migration savings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66960" y="2743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42232"/>
            <a:ext cx="502920" cy="50292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005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Archetype Analysis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banks into types mapped to ROI ranges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6960" y="3886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5285232"/>
            <a:ext cx="502920" cy="50292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5148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Calculator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00200" y="5532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go-to-market team uses with prospects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66960" y="5029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395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public record says about payment rails — every figure sourced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MONEY MOVES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rails still carry almost all the volume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3774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alone is 35 billion payments a year.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rails (FedNow, RTP) are tiny today.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the opportunity — enormous legacy volume is still available to migrate.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migration pays — cost to move one transaction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FF6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case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377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 costs $18.57 and a check $2.98 to process — an instant payment ~$0.77.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ACH is already cheap, so moving it saves nothing.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come from displacing checks and wires.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rails carry the most fraud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42316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are the most-targeted instrument — 58% of firms hit in 2025.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Displacing checks cuts cost AND exposure.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instant payments are irrevocable — they need strong pre-send verification.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already happened abroad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analog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42316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Brazil's Pix went from 9.4B to 63.4B transactions in three years and pushed checks to near zero.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shows the same shift at a steadier pace.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bracket how fast U.S. migration can go.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395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of Each Rail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rebuilt each rail's cost from 8 components — no lumped numbers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rail's cost is built from 8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9384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paid to the rail operator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29384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105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/ operations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labor &amp; systems to move the item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706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08376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8895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&amp; exception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246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rejects, repairs (rate × cost)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7706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008376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8895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loss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246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fraud write-off per item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496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087368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39684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prevention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325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monitoring tooling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8496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087368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39684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4325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sanctions screening per item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92861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17320" y="5047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54041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breaks handling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492861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516636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9440" y="5047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/ prefunding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54041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Funded-position carrying cost (instant)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eight sum to the fully-loaded cost per transaction. Every value is sourced and adjustable.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BY 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rails, side by side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011680"/>
          <a:ext cx="4297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234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Cost/txn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vs instant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-$0.38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shows a negative saving — migrating it costs more. That's an honest result.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THAT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&amp; wires — where the cost actually sits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 ·  $2.98 / txn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 ·  $18.57 / txn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9202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THAT MAKE THE MODEL CREDIBLE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detail exposed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6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is NOT free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$0.77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per instant txn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screening, irrevocable-payment (APP scam) loss risk, and 24/7 prefunding add real cost — but still a fraction of checks &amp; wires.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DECE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Migrating ACH loses money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-$0.38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37960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ACH txn if migrated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114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ACH already costs ~$0.40 — less than instant's full $0.77. So we do NOT count ACH migration as a saving. The ROI is a check-and-wire story.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395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ROI Model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cost data to a dollar answer — with sensitivity and honest caveats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transparent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56816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8-part fully-loaded cost per rail (network → liquidity)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98094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761488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2761488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share of each legacy rail's volume migrates — never 100%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00507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785616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6320" y="3785616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cost minus instant cost, times migrated volume, per rail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809744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5029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809744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46320" y="4809744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→ ROI, payback period, and 5-year NPV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documented Python module and a live Excel model — change any input, results update.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annual impact across three CFIs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CFI · net / yr · 71% ROI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$306K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8912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CFI · net / yr · 204% ROI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$1.66M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3816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CFI · net / yr · 473% ROI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3200400"/>
          <a:ext cx="7315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138160" y="324612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66760" y="34290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16.8 mo · Mid 5.9 mo · Large 2.5 mo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NPV (@10%)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$0.1M · $1.0M · $5.9M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ROI (Mid CFI)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check &amp; wire migration is HALF our estimate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instant's true cost is higher than $0.77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205740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is most sensitive to how much check/wire volume migrates and to instant's true cost. At ~$2/txn, migration stops paying — the stress test a sharp prospect will run.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WERE HONEST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until calibrated with Payfinia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loss &amp; prevention per item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0" y="1737360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gives 'share of firms hit', not $ per transaction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6148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processing labor per item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2761488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core processor and institution size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85616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785616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/ return rates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3785616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Nacha thresholds bound them; actuals differ by CFI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09744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809744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substitution rates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4809744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analogs bound the range; production data confirms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correct; these inputs get sharpened with real data. The model is built so Payfinia can plug them in without re-engineering.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what should a CFI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0FBF9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INSTANT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&amp; wires → FedNow / RTP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cost savings and fraud reduction. This is where the ROI lives.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FOR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ACH stays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cheap and efficient. Migrating it costs more, not less.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6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MIX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high check/wire volume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383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CFI's ROI depends on its rail mix. More checks &amp; wires = bigger payoff.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Payfinia · Money Movement Analytics  |  USF FinTech Graduate Project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CFI Archetypes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real banks (public FDIC / NCUA data) into archetypes and map each to an expected ROI range — so Payfinia can tier its prospect pipeline by likely return.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case is real, defensible, and driven by checks and wires — calibrate with production data and it's ready for prospect conversations.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Payfinia — Migration ROI</dc:title>
  <dc:subject>PptxGenJS Presentation</dc:subject>
  <dc:creator>USF FinTech Team</dc:creator>
  <cp:lastModifiedBy>USF FinTech Team</cp:lastModifiedBy>
  <cp:revision>1</cp:revision>
  <dcterms:created xsi:type="dcterms:W3CDTF">2026-07-02T05:02:35Z</dcterms:created>
  <dcterms:modified xsi:type="dcterms:W3CDTF">2026-07-02T05:02:35Z</dcterms:modified>
</cp:coreProperties>
</file>